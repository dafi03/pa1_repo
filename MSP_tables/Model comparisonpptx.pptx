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3" r:id="rId3"/>
    <p:sldId id="264" r:id="rId4"/>
    <p:sldId id="258" r:id="rId5"/>
    <p:sldId id="260" r:id="rId6"/>
    <p:sldId id="259" r:id="rId7"/>
    <p:sldId id="261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81"/>
  </p:normalViewPr>
  <p:slideViewPr>
    <p:cSldViewPr snapToGrid="0">
      <p:cViewPr>
        <p:scale>
          <a:sx n="132" d="100"/>
          <a:sy n="132" d="100"/>
        </p:scale>
        <p:origin x="-456" y="-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180681-0673-C04D-56DE-9E4AA5AE1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3064D24-E837-E389-3C2F-D217CCF07A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62A557-559E-2BFD-D179-70A8F21E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A967-AC96-7A49-BB90-6C176CA4D872}" type="datetimeFigureOut">
              <a:rPr lang="de-CH" smtClean="0"/>
              <a:t>20.04.26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061700-693B-BA28-0E5D-3F25CEC99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09D28E-D748-DF09-1177-93CBE894C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FB68-BEC4-8C44-B7CE-6DCF9BEE880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15910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DDBBFA-9944-C768-0D93-80D1D973F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6613DE-DFF5-7532-454F-EF9F59109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AF6296-F55E-7363-AF73-12B4FE3FF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A967-AC96-7A49-BB90-6C176CA4D872}" type="datetimeFigureOut">
              <a:rPr lang="de-CH" smtClean="0"/>
              <a:t>20.04.26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775486-C53B-2373-B094-1F8F50500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869B2D-2A31-CBAA-7A79-8839B9B4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FB68-BEC4-8C44-B7CE-6DCF9BEE880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6821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AE0D87-362D-D966-FFDE-814965C6C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9D3A93-FF45-1B78-2511-039370FD2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284C6A-8ACB-1E49-01E8-8F5F3F053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A967-AC96-7A49-BB90-6C176CA4D872}" type="datetimeFigureOut">
              <a:rPr lang="de-CH" smtClean="0"/>
              <a:t>20.04.26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26460E-84EA-3257-D5FC-172FC0388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9AE0EB-A32B-5A09-6F80-AFD79BE0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FB68-BEC4-8C44-B7CE-6DCF9BEE880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93098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CBE33A-EF64-C6CD-3D95-5AD14F4D3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2831C3-9F5D-1ABC-CAE7-C6301A2EC6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CBAC76-F341-427D-A95F-78FF1E907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A1B2AE-1AE3-5141-C4EC-955B2721C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A967-AC96-7A49-BB90-6C176CA4D872}" type="datetimeFigureOut">
              <a:rPr lang="de-CH" smtClean="0"/>
              <a:t>20.04.26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600684-1CFC-BDDC-A986-8ACDC855A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EC194C-9010-65D6-7DDA-66BF28C5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FB68-BEC4-8C44-B7CE-6DCF9BEE880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05840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EDC3AD-C414-9B22-C3E6-CCBCED37E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371EC0-91F6-362A-0D5A-3787BC44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5BA9E57-24F3-4DBE-CA07-36405A492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3F29940-552A-0BA0-6072-962AC8EE3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93A7864-05AE-9208-DD74-0A3B448AD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2E5CB6C-E29F-8801-92D6-1DE9C056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A967-AC96-7A49-BB90-6C176CA4D872}" type="datetimeFigureOut">
              <a:rPr lang="de-CH" smtClean="0"/>
              <a:t>20.04.26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5218AC6-83CE-B38F-1C4F-D6CE6A2DB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75D9709-BAE2-2BEF-D6F4-802E47051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FB68-BEC4-8C44-B7CE-6DCF9BEE880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47101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C681E5-ACB7-53A6-5438-C80E54699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1F9D59-EFCE-207D-5DF0-EC9E39EA8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A967-AC96-7A49-BB90-6C176CA4D872}" type="datetimeFigureOut">
              <a:rPr lang="de-CH" smtClean="0"/>
              <a:t>20.04.26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21CC970-555D-1330-70FC-727983C1C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52675F-0150-430B-C7B0-0E01D866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FB68-BEC4-8C44-B7CE-6DCF9BEE880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872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D6A339D-095A-D923-180D-82BD2E498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A967-AC96-7A49-BB90-6C176CA4D872}" type="datetimeFigureOut">
              <a:rPr lang="de-CH" smtClean="0"/>
              <a:t>20.04.26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0067FFD-36D8-7603-50B5-2DE89D594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31A585-350C-E099-49ED-36771E13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FB68-BEC4-8C44-B7CE-6DCF9BEE880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51899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49ABEC-D435-BB90-F6C9-2B0B6B3C0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F5D0F5-B1A2-C1A2-2DB2-51777EA82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B8AE481-6791-2DEF-82D9-92EAA3043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DECFEFF-B19E-8216-DD30-7E7D2589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A967-AC96-7A49-BB90-6C176CA4D872}" type="datetimeFigureOut">
              <a:rPr lang="de-CH" smtClean="0"/>
              <a:t>20.04.26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8C178EF-CCA0-078D-365A-FFAE48FF7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E00E808-1277-94B6-411A-7521969A8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FB68-BEC4-8C44-B7CE-6DCF9BEE880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79221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6D958A-AD0F-0F69-4443-F83AE2CE1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06D4377-EE7B-7139-06C2-F952DB8153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2F25B5B-F8A9-F596-41A2-7BBA2B7CE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550DE9-BA8F-1892-C6C1-BE5B1571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A967-AC96-7A49-BB90-6C176CA4D872}" type="datetimeFigureOut">
              <a:rPr lang="de-CH" smtClean="0"/>
              <a:t>20.04.26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B98DE96-C419-25C3-F83F-DD90FDDB3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E2DD84-C7D2-997B-926B-A93B77CD4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FB68-BEC4-8C44-B7CE-6DCF9BEE880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33073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5D85A5-1598-72B0-A5A2-BED5FF181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BDD7D91-7CFB-2946-A963-D63D07703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8245C5-7B6D-78F8-6583-F8C3DF7D8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A967-AC96-7A49-BB90-6C176CA4D872}" type="datetimeFigureOut">
              <a:rPr lang="de-CH" smtClean="0"/>
              <a:t>20.04.26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D98583-7F73-0A70-3864-BD983C892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4872C2-BBE9-01BA-5F58-BDD2848B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FB68-BEC4-8C44-B7CE-6DCF9BEE880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15504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A9A03E7-171B-7B45-8BEF-A3C05684B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C59363A-D71F-220D-123E-615BBDC92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541D57-2D9D-5D0F-5C30-F37686A4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A967-AC96-7A49-BB90-6C176CA4D872}" type="datetimeFigureOut">
              <a:rPr lang="de-CH" smtClean="0"/>
              <a:t>20.04.26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FA6599-72E8-7573-51BC-35903B9E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1764B2-DBAC-C60C-A9D4-E34C451FD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FB68-BEC4-8C44-B7CE-6DCF9BEE880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9587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623550E-8F37-4567-6252-B9E3C2F2A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9229B2-D305-92A3-C7C6-81C4B9064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3A43E8-5389-8003-7335-F5AA7333B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17A967-AC96-7A49-BB90-6C176CA4D872}" type="datetimeFigureOut">
              <a:rPr lang="de-CH" smtClean="0"/>
              <a:t>20.04.26</a:t>
            </a:fld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32F2AD-800A-48FB-5D39-44EEC08F0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633035-B1B5-8079-6ECF-58854109DF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AFB68-BEC4-8C44-B7CE-6DCF9BEE8809}" type="slidenum">
              <a:rPr lang="de-CH" smtClean="0"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5249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D5FA0-E24A-BEA9-FF32-557EE8EAB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EB1E3F53-FC8B-68CD-3659-732D29C6E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6693"/>
            <a:ext cx="8661402" cy="188595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C951ADF4-8FC5-9795-E575-2C766367E56B}"/>
              </a:ext>
            </a:extLst>
          </p:cNvPr>
          <p:cNvSpPr/>
          <p:nvPr/>
        </p:nvSpPr>
        <p:spPr>
          <a:xfrm>
            <a:off x="401782" y="1274620"/>
            <a:ext cx="7329054" cy="609600"/>
          </a:xfrm>
          <a:prstGeom prst="rect">
            <a:avLst/>
          </a:prstGeom>
          <a:solidFill>
            <a:schemeClr val="accent3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2433589-A957-E054-D153-8C8D781EB800}"/>
              </a:ext>
            </a:extLst>
          </p:cNvPr>
          <p:cNvSpPr/>
          <p:nvPr/>
        </p:nvSpPr>
        <p:spPr>
          <a:xfrm>
            <a:off x="401782" y="1914527"/>
            <a:ext cx="8259620" cy="665018"/>
          </a:xfrm>
          <a:prstGeom prst="rect">
            <a:avLst/>
          </a:prstGeom>
          <a:solidFill>
            <a:schemeClr val="accent2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DD00199-995F-0AB0-CB27-A2480CB3BD16}"/>
              </a:ext>
            </a:extLst>
          </p:cNvPr>
          <p:cNvSpPr txBox="1"/>
          <p:nvPr/>
        </p:nvSpPr>
        <p:spPr>
          <a:xfrm>
            <a:off x="131259" y="184230"/>
            <a:ext cx="3510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2400" dirty="0">
                <a:solidFill>
                  <a:srgbClr val="00B050"/>
                </a:solidFill>
              </a:rPr>
              <a:t>Western</a:t>
            </a:r>
            <a:r>
              <a:rPr lang="de-CH" sz="2400" dirty="0"/>
              <a:t> vs. </a:t>
            </a:r>
            <a:r>
              <a:rPr lang="de-CH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Non-western</a:t>
            </a:r>
            <a:endParaRPr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F7C3A1F-76A2-96CF-D143-FCD06FCE2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781" y="2802950"/>
            <a:ext cx="9250219" cy="391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193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25E32-9984-2D8B-33BF-C06334BFE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1074AC7-AAD7-D67C-EFB0-3DB60124F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09" y="601474"/>
            <a:ext cx="5422038" cy="209101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542414A2-22AB-D177-BEAE-59D13C913ED1}"/>
              </a:ext>
            </a:extLst>
          </p:cNvPr>
          <p:cNvSpPr/>
          <p:nvPr/>
        </p:nvSpPr>
        <p:spPr>
          <a:xfrm>
            <a:off x="401782" y="869300"/>
            <a:ext cx="5200365" cy="461665"/>
          </a:xfrm>
          <a:prstGeom prst="rect">
            <a:avLst/>
          </a:prstGeom>
          <a:solidFill>
            <a:schemeClr val="accent3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0F80700-3E6E-51E8-0844-48EC739714FC}"/>
              </a:ext>
            </a:extLst>
          </p:cNvPr>
          <p:cNvSpPr/>
          <p:nvPr/>
        </p:nvSpPr>
        <p:spPr>
          <a:xfrm>
            <a:off x="404333" y="1598791"/>
            <a:ext cx="5082067" cy="519089"/>
          </a:xfrm>
          <a:prstGeom prst="rect">
            <a:avLst/>
          </a:prstGeom>
          <a:solidFill>
            <a:schemeClr val="accent2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326CEDB-A25E-E803-6719-B764E924798D}"/>
              </a:ext>
            </a:extLst>
          </p:cNvPr>
          <p:cNvSpPr txBox="1"/>
          <p:nvPr/>
        </p:nvSpPr>
        <p:spPr>
          <a:xfrm>
            <a:off x="131259" y="184230"/>
            <a:ext cx="4779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2400" dirty="0">
                <a:solidFill>
                  <a:srgbClr val="00B050"/>
                </a:solidFill>
              </a:rPr>
              <a:t>Western</a:t>
            </a:r>
            <a:r>
              <a:rPr lang="de-CH" sz="2400" dirty="0"/>
              <a:t> vs. </a:t>
            </a:r>
            <a:r>
              <a:rPr lang="de-CH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Non-western </a:t>
            </a:r>
            <a:r>
              <a:rPr lang="de-CH" sz="2400" dirty="0"/>
              <a:t>vs. </a:t>
            </a:r>
            <a:r>
              <a:rPr lang="de-CH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Japan</a:t>
            </a:r>
            <a:endParaRPr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160F39C-D3A5-2031-2292-151E7728661E}"/>
              </a:ext>
            </a:extLst>
          </p:cNvPr>
          <p:cNvSpPr/>
          <p:nvPr/>
        </p:nvSpPr>
        <p:spPr>
          <a:xfrm>
            <a:off x="404334" y="2228345"/>
            <a:ext cx="1679110" cy="306779"/>
          </a:xfrm>
          <a:prstGeom prst="rect">
            <a:avLst/>
          </a:prstGeom>
          <a:solidFill>
            <a:schemeClr val="accent1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58F9958-3C9A-44A1-F8BB-FD47977CF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471" y="2915889"/>
            <a:ext cx="9305529" cy="3942111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95987D92-EFD4-2C13-6325-296CB1B4F790}"/>
              </a:ext>
            </a:extLst>
          </p:cNvPr>
          <p:cNvSpPr txBox="1"/>
          <p:nvPr/>
        </p:nvSpPr>
        <p:spPr>
          <a:xfrm>
            <a:off x="10035250" y="276563"/>
            <a:ext cx="1652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/>
              <a:t>StratifiedKFold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9558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9C635-BDF9-E826-A91B-3D95FA9EB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DAAAE7F-D462-BCFE-A46D-FE758376E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6693"/>
            <a:ext cx="8661402" cy="188595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7C5FF2DE-BE3E-708E-87B6-58BBDEA53705}"/>
              </a:ext>
            </a:extLst>
          </p:cNvPr>
          <p:cNvSpPr/>
          <p:nvPr/>
        </p:nvSpPr>
        <p:spPr>
          <a:xfrm>
            <a:off x="401782" y="1274620"/>
            <a:ext cx="7329054" cy="609600"/>
          </a:xfrm>
          <a:prstGeom prst="rect">
            <a:avLst/>
          </a:prstGeom>
          <a:solidFill>
            <a:schemeClr val="accent3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563825A-00C4-5CDC-C3D0-A5148B70C686}"/>
              </a:ext>
            </a:extLst>
          </p:cNvPr>
          <p:cNvSpPr/>
          <p:nvPr/>
        </p:nvSpPr>
        <p:spPr>
          <a:xfrm>
            <a:off x="401782" y="1914527"/>
            <a:ext cx="8259620" cy="665018"/>
          </a:xfrm>
          <a:prstGeom prst="rect">
            <a:avLst/>
          </a:prstGeom>
          <a:solidFill>
            <a:schemeClr val="accent2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8A18C8F-A398-81B1-B609-AD7B96F70134}"/>
              </a:ext>
            </a:extLst>
          </p:cNvPr>
          <p:cNvSpPr txBox="1"/>
          <p:nvPr/>
        </p:nvSpPr>
        <p:spPr>
          <a:xfrm>
            <a:off x="131259" y="184230"/>
            <a:ext cx="3510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2400" dirty="0">
                <a:solidFill>
                  <a:srgbClr val="00B050"/>
                </a:solidFill>
              </a:rPr>
              <a:t>Western</a:t>
            </a:r>
            <a:r>
              <a:rPr lang="de-CH" sz="2400" dirty="0"/>
              <a:t> vs. </a:t>
            </a:r>
            <a:r>
              <a:rPr lang="de-CH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Non-western</a:t>
            </a:r>
            <a:endParaRPr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4154713-90DE-AB08-3FBA-A48E479D93D8}"/>
              </a:ext>
            </a:extLst>
          </p:cNvPr>
          <p:cNvSpPr txBox="1"/>
          <p:nvPr/>
        </p:nvSpPr>
        <p:spPr>
          <a:xfrm>
            <a:off x="4531592" y="230396"/>
            <a:ext cx="1604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/>
              <a:t>Without</a:t>
            </a:r>
            <a:r>
              <a:rPr lang="de-CH" dirty="0"/>
              <a:t> Japan</a:t>
            </a:r>
            <a:endParaRPr dirty="0"/>
          </a:p>
        </p:txBody>
      </p: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A4227DF2-8E97-73FD-07C7-A1CD5601F515}"/>
              </a:ext>
            </a:extLst>
          </p:cNvPr>
          <p:cNvCxnSpPr>
            <a:cxnSpLocks/>
          </p:cNvCxnSpPr>
          <p:nvPr/>
        </p:nvCxnSpPr>
        <p:spPr>
          <a:xfrm>
            <a:off x="4531592" y="2030277"/>
            <a:ext cx="16608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fik 9">
            <a:extLst>
              <a:ext uri="{FF2B5EF4-FFF2-40B4-BE49-F238E27FC236}">
                <a16:creationId xmlns:a16="http://schemas.microsoft.com/office/drawing/2014/main" id="{52D87DC6-855F-8F8A-E8FF-1889008CB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83" y="3013441"/>
            <a:ext cx="9174417" cy="388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693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0B158-0FB3-02D9-82CC-4A34B50C6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79E9E04D-A6B6-6349-AC72-B05BB9D67933}"/>
              </a:ext>
            </a:extLst>
          </p:cNvPr>
          <p:cNvSpPr txBox="1"/>
          <p:nvPr/>
        </p:nvSpPr>
        <p:spPr>
          <a:xfrm>
            <a:off x="131259" y="184230"/>
            <a:ext cx="5694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2400" dirty="0">
                <a:solidFill>
                  <a:srgbClr val="00B050"/>
                </a:solidFill>
              </a:rPr>
              <a:t>Western</a:t>
            </a:r>
            <a:r>
              <a:rPr lang="de-CH" sz="2400" dirty="0"/>
              <a:t> vs. </a:t>
            </a:r>
            <a:r>
              <a:rPr lang="de-CH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Non-western </a:t>
            </a:r>
            <a:r>
              <a:rPr lang="de-CH" sz="2400" dirty="0"/>
              <a:t>vs. </a:t>
            </a:r>
            <a:r>
              <a:rPr lang="de-CH" sz="2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Transitioning</a:t>
            </a:r>
            <a:endParaRPr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697ACED-D1CA-89C8-2A81-630E10F90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59" y="676202"/>
            <a:ext cx="5694764" cy="2580738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45EAA961-F57A-D557-26F0-B31972E7ED6F}"/>
              </a:ext>
            </a:extLst>
          </p:cNvPr>
          <p:cNvSpPr/>
          <p:nvPr/>
        </p:nvSpPr>
        <p:spPr>
          <a:xfrm>
            <a:off x="401783" y="1016006"/>
            <a:ext cx="4627418" cy="665018"/>
          </a:xfrm>
          <a:prstGeom prst="rect">
            <a:avLst/>
          </a:prstGeom>
          <a:solidFill>
            <a:schemeClr val="accent3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F67F987-D412-026A-FCD4-077C5EF1F865}"/>
              </a:ext>
            </a:extLst>
          </p:cNvPr>
          <p:cNvSpPr/>
          <p:nvPr/>
        </p:nvSpPr>
        <p:spPr>
          <a:xfrm>
            <a:off x="401783" y="2020828"/>
            <a:ext cx="5424240" cy="431427"/>
          </a:xfrm>
          <a:prstGeom prst="rect">
            <a:avLst/>
          </a:prstGeom>
          <a:solidFill>
            <a:schemeClr val="accent2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27C4366-7875-12BC-65E5-957DD394C710}"/>
              </a:ext>
            </a:extLst>
          </p:cNvPr>
          <p:cNvSpPr/>
          <p:nvPr/>
        </p:nvSpPr>
        <p:spPr>
          <a:xfrm>
            <a:off x="401783" y="2688598"/>
            <a:ext cx="3685308" cy="431427"/>
          </a:xfrm>
          <a:prstGeom prst="rect">
            <a:avLst/>
          </a:prstGeom>
          <a:solidFill>
            <a:schemeClr val="accent5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89701C7-4C93-8777-17E5-C7E44D7EB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537" y="3256940"/>
            <a:ext cx="8500463" cy="360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488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DDA45-EF54-5054-08C5-B3BF7C384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59188AB0-606F-15B5-0012-922162D88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39" y="733623"/>
            <a:ext cx="5204486" cy="2648189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1D24233-D24F-7A1E-58CB-9CC2E1242EFA}"/>
              </a:ext>
            </a:extLst>
          </p:cNvPr>
          <p:cNvSpPr txBox="1"/>
          <p:nvPr/>
        </p:nvSpPr>
        <p:spPr>
          <a:xfrm>
            <a:off x="131259" y="184230"/>
            <a:ext cx="6964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2400" dirty="0">
                <a:solidFill>
                  <a:srgbClr val="00B050"/>
                </a:solidFill>
              </a:rPr>
              <a:t>Western</a:t>
            </a:r>
            <a:r>
              <a:rPr lang="de-CH" sz="2400" dirty="0"/>
              <a:t> vs. </a:t>
            </a:r>
            <a:r>
              <a:rPr lang="de-CH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Non-western </a:t>
            </a:r>
            <a:r>
              <a:rPr lang="de-CH" sz="2400" dirty="0"/>
              <a:t>vs. </a:t>
            </a:r>
            <a:r>
              <a:rPr lang="de-CH" sz="2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Transitioning</a:t>
            </a:r>
            <a:r>
              <a:rPr lang="de-CH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de-CH" sz="2400" dirty="0"/>
              <a:t>vs. </a:t>
            </a:r>
            <a:r>
              <a:rPr lang="de-CH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Japan</a:t>
            </a:r>
            <a:endParaRPr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6AD6173-8C20-6D5A-F4B6-A2353B85E1F5}"/>
              </a:ext>
            </a:extLst>
          </p:cNvPr>
          <p:cNvSpPr/>
          <p:nvPr/>
        </p:nvSpPr>
        <p:spPr>
          <a:xfrm>
            <a:off x="401783" y="1016006"/>
            <a:ext cx="4627418" cy="665018"/>
          </a:xfrm>
          <a:prstGeom prst="rect">
            <a:avLst/>
          </a:prstGeom>
          <a:solidFill>
            <a:schemeClr val="accent3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47A74CF-500C-599D-507C-3493CC287ED9}"/>
              </a:ext>
            </a:extLst>
          </p:cNvPr>
          <p:cNvSpPr/>
          <p:nvPr/>
        </p:nvSpPr>
        <p:spPr>
          <a:xfrm>
            <a:off x="440464" y="1942811"/>
            <a:ext cx="4895465" cy="431427"/>
          </a:xfrm>
          <a:prstGeom prst="rect">
            <a:avLst/>
          </a:prstGeom>
          <a:solidFill>
            <a:schemeClr val="accent2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A1ECBCB-9932-6862-3A4C-6C77FA54BE92}"/>
              </a:ext>
            </a:extLst>
          </p:cNvPr>
          <p:cNvSpPr/>
          <p:nvPr/>
        </p:nvSpPr>
        <p:spPr>
          <a:xfrm>
            <a:off x="440464" y="2472884"/>
            <a:ext cx="4895464" cy="316615"/>
          </a:xfrm>
          <a:prstGeom prst="rect">
            <a:avLst/>
          </a:prstGeom>
          <a:solidFill>
            <a:schemeClr val="accent5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C609911-F71A-1639-7189-9CDA98B73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243" y="3381812"/>
            <a:ext cx="8279757" cy="3507562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A19AC042-1043-F09D-6F98-78D90C1F3B8B}"/>
              </a:ext>
            </a:extLst>
          </p:cNvPr>
          <p:cNvSpPr txBox="1"/>
          <p:nvPr/>
        </p:nvSpPr>
        <p:spPr>
          <a:xfrm>
            <a:off x="10035250" y="276563"/>
            <a:ext cx="1652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/>
              <a:t>StratifiedKFold</a:t>
            </a:r>
            <a:endParaRPr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8AB3EC6-860A-1D61-3D6E-44B9BDE647AE}"/>
              </a:ext>
            </a:extLst>
          </p:cNvPr>
          <p:cNvSpPr/>
          <p:nvPr/>
        </p:nvSpPr>
        <p:spPr>
          <a:xfrm>
            <a:off x="579361" y="3025697"/>
            <a:ext cx="1110543" cy="192065"/>
          </a:xfrm>
          <a:prstGeom prst="rect">
            <a:avLst/>
          </a:prstGeom>
          <a:solidFill>
            <a:schemeClr val="accent4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5556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3B331-B6F3-86BF-3563-0F0DC822F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D06FCF7F-A7EB-7040-E261-6DC1507AD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59" y="723731"/>
            <a:ext cx="6304265" cy="280404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23C9FBCC-5AEB-200B-A929-967673D45BD8}"/>
              </a:ext>
            </a:extLst>
          </p:cNvPr>
          <p:cNvSpPr txBox="1"/>
          <p:nvPr/>
        </p:nvSpPr>
        <p:spPr>
          <a:xfrm>
            <a:off x="131259" y="184230"/>
            <a:ext cx="5341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2400" dirty="0">
                <a:solidFill>
                  <a:srgbClr val="00B050"/>
                </a:solidFill>
              </a:rPr>
              <a:t>Western</a:t>
            </a:r>
            <a:r>
              <a:rPr lang="de-CH" sz="2400" dirty="0"/>
              <a:t> vs. </a:t>
            </a:r>
            <a:r>
              <a:rPr lang="de-CH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Non-western </a:t>
            </a:r>
            <a:r>
              <a:rPr lang="de-CH" sz="2400" dirty="0"/>
              <a:t>vs. </a:t>
            </a:r>
            <a:r>
              <a:rPr lang="de-CH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US/China </a:t>
            </a:r>
            <a:endParaRPr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A241FAD-A3FA-F757-4E3E-2681939954B6}"/>
              </a:ext>
            </a:extLst>
          </p:cNvPr>
          <p:cNvSpPr/>
          <p:nvPr/>
        </p:nvSpPr>
        <p:spPr>
          <a:xfrm>
            <a:off x="413358" y="1119467"/>
            <a:ext cx="4627418" cy="665018"/>
          </a:xfrm>
          <a:prstGeom prst="rect">
            <a:avLst/>
          </a:prstGeom>
          <a:solidFill>
            <a:schemeClr val="accent3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0DD1B65-3A38-768E-4441-4E307058292C}"/>
              </a:ext>
            </a:extLst>
          </p:cNvPr>
          <p:cNvSpPr/>
          <p:nvPr/>
        </p:nvSpPr>
        <p:spPr>
          <a:xfrm>
            <a:off x="413358" y="2140889"/>
            <a:ext cx="5424240" cy="547709"/>
          </a:xfrm>
          <a:prstGeom prst="rect">
            <a:avLst/>
          </a:prstGeom>
          <a:solidFill>
            <a:schemeClr val="accent2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90E44F5-0DE3-5ADB-696D-0D918A9E1558}"/>
              </a:ext>
            </a:extLst>
          </p:cNvPr>
          <p:cNvSpPr/>
          <p:nvPr/>
        </p:nvSpPr>
        <p:spPr>
          <a:xfrm>
            <a:off x="413358" y="3013398"/>
            <a:ext cx="1577488" cy="431427"/>
          </a:xfrm>
          <a:prstGeom prst="rect">
            <a:avLst/>
          </a:prstGeom>
          <a:solidFill>
            <a:schemeClr val="accent5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B397368-C635-2165-18B8-FB8F2DBFFC2C}"/>
              </a:ext>
            </a:extLst>
          </p:cNvPr>
          <p:cNvSpPr txBox="1"/>
          <p:nvPr/>
        </p:nvSpPr>
        <p:spPr>
          <a:xfrm>
            <a:off x="6574420" y="230396"/>
            <a:ext cx="1838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ym typeface="Wingdings" pitchFamily="2" charset="2"/>
              </a:rPr>
              <a:t> </a:t>
            </a:r>
            <a:r>
              <a:rPr lang="de-CH" dirty="0" err="1"/>
              <a:t>without</a:t>
            </a:r>
            <a:r>
              <a:rPr lang="de-CH" dirty="0"/>
              <a:t> Japan</a:t>
            </a:r>
            <a:endParaRPr dirty="0"/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377EE436-32B9-F14E-137D-9B29331FD41F}"/>
              </a:ext>
            </a:extLst>
          </p:cNvPr>
          <p:cNvCxnSpPr>
            <a:cxnSpLocks/>
          </p:cNvCxnSpPr>
          <p:nvPr/>
        </p:nvCxnSpPr>
        <p:spPr>
          <a:xfrm flipV="1">
            <a:off x="413358" y="2996909"/>
            <a:ext cx="1670085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Grafik 12">
            <a:extLst>
              <a:ext uri="{FF2B5EF4-FFF2-40B4-BE49-F238E27FC236}">
                <a16:creationId xmlns:a16="http://schemas.microsoft.com/office/drawing/2014/main" id="{F7C1FBA4-C7FF-C95E-E65B-094794936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3565370"/>
            <a:ext cx="7772400" cy="329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99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6D766-E66C-EB2D-5996-FB3E60517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D1385686-A327-7743-8186-E1170D86C6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3683828"/>
                  </p:ext>
                </p:extLst>
              </p:nvPr>
            </p:nvGraphicFramePr>
            <p:xfrm>
              <a:off x="962804" y="1968586"/>
              <a:ext cx="10623452" cy="38482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17636">
                      <a:extLst>
                        <a:ext uri="{9D8B030D-6E8A-4147-A177-3AD203B41FA5}">
                          <a16:colId xmlns:a16="http://schemas.microsoft.com/office/drawing/2014/main" val="394163471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1027376198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1621486045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1418062975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3044465133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810872451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1191534760"/>
                        </a:ext>
                      </a:extLst>
                    </a:gridCol>
                  </a:tblGrid>
                  <a:tr h="854492"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CH" sz="1200" dirty="0"/>
                            <a:t>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</a:t>
                          </a:r>
                          <a:br>
                            <a:rPr lang="de-CH" sz="1200" dirty="0"/>
                          </a:br>
                          <a:r>
                            <a:rPr lang="de-CH" sz="1200" dirty="0"/>
                            <a:t>non-Western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</a:t>
                          </a:r>
                          <a:br>
                            <a:rPr lang="de-CH" sz="1200" dirty="0"/>
                          </a:br>
                          <a:r>
                            <a:rPr lang="de-CH" sz="1200" dirty="0"/>
                            <a:t>non-Western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Japan</a:t>
                          </a:r>
                        </a:p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</a:t>
                          </a:r>
                          <a:br>
                            <a:rPr lang="de-CH" sz="1200" dirty="0"/>
                          </a:br>
                          <a:r>
                            <a:rPr lang="de-CH" sz="1200" dirty="0"/>
                            <a:t>non-Western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 err="1"/>
                            <a:t>without</a:t>
                          </a:r>
                          <a:r>
                            <a:rPr lang="de-CH" sz="1200" dirty="0"/>
                            <a:t> Japan</a:t>
                          </a:r>
                        </a:p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CH" sz="1200" dirty="0"/>
                            <a:t>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</a:t>
                          </a:r>
                          <a:br>
                            <a:rPr lang="de-CH" sz="1200" dirty="0"/>
                          </a:br>
                          <a:r>
                            <a:rPr lang="de-CH" sz="1200" dirty="0"/>
                            <a:t>non-Western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</a:t>
                          </a:r>
                          <a:r>
                            <a:rPr lang="de-CH" sz="1200" dirty="0" err="1"/>
                            <a:t>Transitioning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Western </a:t>
                          </a:r>
                          <a:r>
                            <a:rPr lang="de-CH" sz="1200" dirty="0" err="1"/>
                            <a:t>vs</a:t>
                          </a:r>
                          <a:br>
                            <a:rPr lang="de-CH" sz="1200" dirty="0"/>
                          </a:br>
                          <a:r>
                            <a:rPr lang="de-CH" sz="1200" dirty="0"/>
                            <a:t>non-Western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</a:t>
                          </a:r>
                          <a:r>
                            <a:rPr lang="de-CH" sz="1200" dirty="0" err="1"/>
                            <a:t>Transitioning</a:t>
                          </a:r>
                          <a:r>
                            <a:rPr lang="de-CH" sz="1200" dirty="0"/>
                            <a:t>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Japan</a:t>
                          </a:r>
                        </a:p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non-Western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US/China </a:t>
                          </a:r>
                          <a:r>
                            <a:rPr lang="de-CH" sz="1200" dirty="0" err="1"/>
                            <a:t>without</a:t>
                          </a:r>
                          <a:r>
                            <a:rPr lang="de-CH" sz="1200" dirty="0"/>
                            <a:t> Japan</a:t>
                          </a:r>
                        </a:p>
                        <a:p>
                          <a:endParaRPr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1395666"/>
                      </a:ext>
                    </a:extLst>
                  </a:tr>
                  <a:tr h="269288"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CH" sz="1200" dirty="0" err="1"/>
                            <a:t>StratifiedKFold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 err="1"/>
                            <a:t>StratifiedKFold</a:t>
                          </a:r>
                          <a:endParaRPr lang="de-CH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079669"/>
                      </a:ext>
                    </a:extLst>
                  </a:tr>
                  <a:tr h="856018">
                    <a:tc>
                      <a:txBody>
                        <a:bodyPr/>
                        <a:lstStyle/>
                        <a:p>
                          <a:r>
                            <a:rPr lang="de-CH" sz="1200" dirty="0"/>
                            <a:t>Roc-AUC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0.9454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0.1015</a:t>
                          </a:r>
                        </a:p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0.9881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0.0073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0.9633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0.0535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0.9193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0.1113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0.9906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0.0028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0.8658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0.0769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CH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707530"/>
                      </a:ext>
                    </a:extLst>
                  </a:tr>
                  <a:tr h="856018">
                    <a:tc>
                      <a:txBody>
                        <a:bodyPr/>
                        <a:lstStyle/>
                        <a:p>
                          <a:r>
                            <a:rPr lang="de-CH" sz="1200" dirty="0"/>
                            <a:t>F1-Score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0.8196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0.2822</a:t>
                          </a:r>
                        </a:p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0.8233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0.0436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0.7215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0.5405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0.7060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0.2477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0.8592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0.0142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0.6757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0.1015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CH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5970793"/>
                      </a:ext>
                    </a:extLst>
                  </a:tr>
                  <a:tr h="856018">
                    <a:tc>
                      <a:txBody>
                        <a:bodyPr/>
                        <a:lstStyle/>
                        <a:p>
                          <a:r>
                            <a:rPr lang="de-CH" sz="1200" dirty="0" err="1"/>
                            <a:t>Bal</a:t>
                          </a:r>
                          <a:r>
                            <a:rPr lang="de-CH" sz="1200" dirty="0"/>
                            <a:t>. </a:t>
                          </a:r>
                          <a:r>
                            <a:rPr lang="de-CH" sz="1200" dirty="0" err="1"/>
                            <a:t>Acc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0.8510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0.2411</a:t>
                          </a:r>
                        </a:p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0.7863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0.0371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0.7948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0.3859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0.7452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0.1663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0.8326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0.0150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0.6988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0.1280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CH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33487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D1385686-A327-7743-8186-E1170D86C6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3683828"/>
                  </p:ext>
                </p:extLst>
              </p:nvPr>
            </p:nvGraphicFramePr>
            <p:xfrm>
              <a:off x="962804" y="1968586"/>
              <a:ext cx="10623452" cy="38482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17636">
                      <a:extLst>
                        <a:ext uri="{9D8B030D-6E8A-4147-A177-3AD203B41FA5}">
                          <a16:colId xmlns:a16="http://schemas.microsoft.com/office/drawing/2014/main" val="394163471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1027376198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1621486045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1418062975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3044465133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810872451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1191534760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CH" sz="1200" dirty="0"/>
                            <a:t>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</a:t>
                          </a:r>
                          <a:br>
                            <a:rPr lang="de-CH" sz="1200" dirty="0"/>
                          </a:br>
                          <a:r>
                            <a:rPr lang="de-CH" sz="1200" dirty="0"/>
                            <a:t>non-Western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</a:t>
                          </a:r>
                          <a:br>
                            <a:rPr lang="de-CH" sz="1200" dirty="0"/>
                          </a:br>
                          <a:r>
                            <a:rPr lang="de-CH" sz="1200" dirty="0"/>
                            <a:t>non-Western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Japan</a:t>
                          </a:r>
                        </a:p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</a:t>
                          </a:r>
                          <a:br>
                            <a:rPr lang="de-CH" sz="1200" dirty="0"/>
                          </a:br>
                          <a:r>
                            <a:rPr lang="de-CH" sz="1200" dirty="0"/>
                            <a:t>non-Western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 err="1"/>
                            <a:t>without</a:t>
                          </a:r>
                          <a:r>
                            <a:rPr lang="de-CH" sz="1200" dirty="0"/>
                            <a:t> Japan</a:t>
                          </a:r>
                        </a:p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CH" sz="1200" dirty="0"/>
                            <a:t>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</a:t>
                          </a:r>
                          <a:br>
                            <a:rPr lang="de-CH" sz="1200" dirty="0"/>
                          </a:br>
                          <a:r>
                            <a:rPr lang="de-CH" sz="1200" dirty="0"/>
                            <a:t>non-Western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</a:t>
                          </a:r>
                          <a:r>
                            <a:rPr lang="de-CH" sz="1200" dirty="0" err="1"/>
                            <a:t>Transitioning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Western </a:t>
                          </a:r>
                          <a:r>
                            <a:rPr lang="de-CH" sz="1200" dirty="0" err="1"/>
                            <a:t>vs</a:t>
                          </a:r>
                          <a:br>
                            <a:rPr lang="de-CH" sz="1200" dirty="0"/>
                          </a:br>
                          <a:r>
                            <a:rPr lang="de-CH" sz="1200" dirty="0"/>
                            <a:t>non-Western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</a:t>
                          </a:r>
                          <a:r>
                            <a:rPr lang="de-CH" sz="1200" dirty="0" err="1"/>
                            <a:t>Transitioning</a:t>
                          </a:r>
                          <a:r>
                            <a:rPr lang="de-CH" sz="1200" dirty="0"/>
                            <a:t>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Japan</a:t>
                          </a:r>
                        </a:p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non-Western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US/China </a:t>
                          </a:r>
                          <a:r>
                            <a:rPr lang="de-CH" sz="1200" dirty="0" err="1"/>
                            <a:t>without</a:t>
                          </a:r>
                          <a:r>
                            <a:rPr lang="de-CH" sz="1200" dirty="0"/>
                            <a:t> Japan</a:t>
                          </a:r>
                        </a:p>
                        <a:p>
                          <a:endParaRPr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139566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CH" sz="1200" dirty="0" err="1"/>
                            <a:t>StratifiedKFold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 err="1"/>
                            <a:t>StratifiedKFold</a:t>
                          </a:r>
                          <a:endParaRPr lang="de-CH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079669"/>
                      </a:ext>
                    </a:extLst>
                  </a:tr>
                  <a:tr h="856018">
                    <a:tc>
                      <a:txBody>
                        <a:bodyPr/>
                        <a:lstStyle/>
                        <a:p>
                          <a:r>
                            <a:rPr lang="de-CH" sz="1200" dirty="0"/>
                            <a:t>Roc-AUC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01681" t="-150000" r="-50504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50000" r="-40083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150000" r="-30083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150000" r="-20083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504202" t="-150000" r="-10252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599167" t="-150000" r="-1667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707530"/>
                      </a:ext>
                    </a:extLst>
                  </a:tr>
                  <a:tr h="856018">
                    <a:tc>
                      <a:txBody>
                        <a:bodyPr/>
                        <a:lstStyle/>
                        <a:p>
                          <a:r>
                            <a:rPr lang="de-CH" sz="1200" dirty="0"/>
                            <a:t>F1-Score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01681" t="-253731" r="-505042" b="-10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253731" r="-400833" b="-10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253731" r="-300833" b="-10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253731" r="-200833" b="-10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504202" t="-253731" r="-102521" b="-10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599167" t="-253731" r="-1667" b="-1029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5970793"/>
                      </a:ext>
                    </a:extLst>
                  </a:tr>
                  <a:tr h="856018">
                    <a:tc>
                      <a:txBody>
                        <a:bodyPr/>
                        <a:lstStyle/>
                        <a:p>
                          <a:r>
                            <a:rPr lang="de-CH" sz="1200" dirty="0" err="1"/>
                            <a:t>Bal</a:t>
                          </a:r>
                          <a:r>
                            <a:rPr lang="de-CH" sz="1200" dirty="0"/>
                            <a:t>. </a:t>
                          </a:r>
                          <a:r>
                            <a:rPr lang="de-CH" sz="1200" dirty="0" err="1"/>
                            <a:t>Acc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01681" t="-348529" r="-505042" b="-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48529" r="-400833" b="-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348529" r="-300833" b="-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348529" r="-200833" b="-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504202" t="-348529" r="-102521" b="-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599167" t="-348529" r="-1667" b="-1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33487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11410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Macintosh PowerPoint</Application>
  <PresentationFormat>Breitbild</PresentationFormat>
  <Paragraphs>42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Binaki Ajna (binakajn)</dc:creator>
  <cp:lastModifiedBy>Binaki Ajna (binakajn)</cp:lastModifiedBy>
  <cp:revision>1</cp:revision>
  <dcterms:created xsi:type="dcterms:W3CDTF">2026-04-20T05:38:40Z</dcterms:created>
  <dcterms:modified xsi:type="dcterms:W3CDTF">2026-04-20T06:59:38Z</dcterms:modified>
</cp:coreProperties>
</file>